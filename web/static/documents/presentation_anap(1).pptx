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6858000" cy="9144000"/>
  <p:embeddedFontLst>
    <p:embeddedFont>
      <p:font typeface="Montserrat SemiBold"/>
      <p:regular r:id="rId24"/>
      <p:bold r:id="rId25"/>
      <p:italic r:id="rId26"/>
      <p:boldItalic r:id="rId27"/>
    </p:embeddedFont>
    <p:embeddedFont>
      <p:font typeface="Inter"/>
      <p:regular r:id="rId28"/>
      <p:bold r:id="rId29"/>
    </p:embeddedFont>
    <p:embeddedFont>
      <p:font typeface="Montserrat"/>
      <p:regular r:id="rId30"/>
      <p:bold r:id="rId31"/>
      <p:italic r:id="rId32"/>
      <p:boldItalic r:id="rId33"/>
    </p:embeddedFont>
    <p:embeddedFont>
      <p:font typeface="Montserrat Medium"/>
      <p:regular r:id="rId34"/>
      <p:bold r:id="rId35"/>
      <p:italic r:id="rId36"/>
      <p:boldItalic r:id="rId37"/>
    </p:embeddedFont>
    <p:embeddedFont>
      <p:font typeface="Helvetica Neue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italic.fntdata"/><Relationship Id="rId20" Type="http://schemas.openxmlformats.org/officeDocument/2006/relationships/slide" Target="slides/slide16.xml"/><Relationship Id="rId41" Type="http://schemas.openxmlformats.org/officeDocument/2006/relationships/font" Target="fonts/HelveticaNeue-bold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MontserratSemiBold-regular.fntdata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SemiBold-italic.fntdata"/><Relationship Id="rId25" Type="http://schemas.openxmlformats.org/officeDocument/2006/relationships/font" Target="fonts/MontserratSemiBold-bold.fntdata"/><Relationship Id="rId28" Type="http://schemas.openxmlformats.org/officeDocument/2006/relationships/font" Target="fonts/Inter-regular.fntdata"/><Relationship Id="rId27" Type="http://schemas.openxmlformats.org/officeDocument/2006/relationships/font" Target="fonts/MontserratSemiBold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Inter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Montserrat-bold.fntdata"/><Relationship Id="rId30" Type="http://schemas.openxmlformats.org/officeDocument/2006/relationships/font" Target="fonts/Montserrat-regular.fntdata"/><Relationship Id="rId11" Type="http://schemas.openxmlformats.org/officeDocument/2006/relationships/slide" Target="slides/slide7.xml"/><Relationship Id="rId33" Type="http://schemas.openxmlformats.org/officeDocument/2006/relationships/font" Target="fonts/Montserrat-boldItalic.fntdata"/><Relationship Id="rId10" Type="http://schemas.openxmlformats.org/officeDocument/2006/relationships/slide" Target="slides/slide6.xml"/><Relationship Id="rId32" Type="http://schemas.openxmlformats.org/officeDocument/2006/relationships/font" Target="fonts/Montserrat-italic.fntdata"/><Relationship Id="rId13" Type="http://schemas.openxmlformats.org/officeDocument/2006/relationships/slide" Target="slides/slide9.xml"/><Relationship Id="rId35" Type="http://schemas.openxmlformats.org/officeDocument/2006/relationships/font" Target="fonts/MontserratMedium-bold.fntdata"/><Relationship Id="rId12" Type="http://schemas.openxmlformats.org/officeDocument/2006/relationships/slide" Target="slides/slide8.xml"/><Relationship Id="rId34" Type="http://schemas.openxmlformats.org/officeDocument/2006/relationships/font" Target="fonts/MontserratMedium-regular.fntdata"/><Relationship Id="rId15" Type="http://schemas.openxmlformats.org/officeDocument/2006/relationships/slide" Target="slides/slide11.xml"/><Relationship Id="rId37" Type="http://schemas.openxmlformats.org/officeDocument/2006/relationships/font" Target="fonts/MontserratMedium-boldItalic.fntdata"/><Relationship Id="rId14" Type="http://schemas.openxmlformats.org/officeDocument/2006/relationships/slide" Target="slides/slide10.xml"/><Relationship Id="rId36" Type="http://schemas.openxmlformats.org/officeDocument/2006/relationships/font" Target="fonts/MontserratMedium-italic.fntdata"/><Relationship Id="rId17" Type="http://schemas.openxmlformats.org/officeDocument/2006/relationships/slide" Target="slides/slide13.xml"/><Relationship Id="rId39" Type="http://schemas.openxmlformats.org/officeDocument/2006/relationships/font" Target="fonts/HelveticaNeue-bold.fntdata"/><Relationship Id="rId16" Type="http://schemas.openxmlformats.org/officeDocument/2006/relationships/slide" Target="slides/slide12.xml"/><Relationship Id="rId38" Type="http://schemas.openxmlformats.org/officeDocument/2006/relationships/font" Target="fonts/HelveticaNeue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9" name="Google Shape;20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3" name="Google Shape;23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2" name="Google Shape;242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1" name="Google Shape;251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0" name="Google Shape;260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359999" y="900000"/>
            <a:ext cx="8424000" cy="72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7486898" y="4890348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showMasterSp="0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p4"/>
          <p:cNvCxnSpPr/>
          <p:nvPr/>
        </p:nvCxnSpPr>
        <p:spPr>
          <a:xfrm>
            <a:off x="359999" y="4784399"/>
            <a:ext cx="8424003" cy="1"/>
          </a:xfrm>
          <a:prstGeom prst="straightConnector1">
            <a:avLst/>
          </a:prstGeom>
          <a:noFill/>
          <a:ln cap="flat" cmpd="sng" w="10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Google Shape;16;p7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8000" y="107999"/>
            <a:ext cx="1008113" cy="64426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/>
          <p:nvPr>
            <p:ph type="title"/>
          </p:nvPr>
        </p:nvSpPr>
        <p:spPr>
          <a:xfrm>
            <a:off x="311708" y="744573"/>
            <a:ext cx="8520601" cy="205260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sz="5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698" y="2834125"/>
            <a:ext cx="8520603" cy="7926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894158" y="4703666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showMasterSp="0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Google Shape;24;p5"/>
          <p:cNvCxnSpPr/>
          <p:nvPr/>
        </p:nvCxnSpPr>
        <p:spPr>
          <a:xfrm>
            <a:off x="359999" y="4784399"/>
            <a:ext cx="8424003" cy="1"/>
          </a:xfrm>
          <a:prstGeom prst="straightConnector1">
            <a:avLst/>
          </a:prstGeom>
          <a:noFill/>
          <a:ln cap="flat" cmpd="sng" w="10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Google Shape;16;p7" id="25" name="Google Shape;2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8000" y="107999"/>
            <a:ext cx="1008113" cy="644264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/>
          <p:nvPr>
            <p:ph type="title"/>
          </p:nvPr>
        </p:nvSpPr>
        <p:spPr>
          <a:xfrm>
            <a:off x="623887" y="1282303"/>
            <a:ext cx="7886701" cy="21396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623887" y="3442096"/>
            <a:ext cx="7886701" cy="11253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318238" y="4812698"/>
            <a:ext cx="197114" cy="183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showMasterSp="0">
  <p:cSld name="TITLE_ONLY 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6"/>
          <p:cNvCxnSpPr/>
          <p:nvPr/>
        </p:nvCxnSpPr>
        <p:spPr>
          <a:xfrm>
            <a:off x="359999" y="4784399"/>
            <a:ext cx="8424003" cy="1"/>
          </a:xfrm>
          <a:prstGeom prst="straightConnector1">
            <a:avLst/>
          </a:prstGeom>
          <a:noFill/>
          <a:ln cap="flat" cmpd="sng" w="10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Google Shape;16;p7" id="31" name="Google Shape;31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8000" y="107999"/>
            <a:ext cx="1008113" cy="64426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/>
          <p:nvPr>
            <p:ph type="title"/>
          </p:nvPr>
        </p:nvSpPr>
        <p:spPr>
          <a:xfrm>
            <a:off x="359999" y="900000"/>
            <a:ext cx="8424000" cy="72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7486999" y="4899999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showMasterSp="0">
  <p:cSld name="Titre et contenu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359999" y="4784399"/>
            <a:ext cx="8424003" cy="1"/>
          </a:xfrm>
          <a:prstGeom prst="straightConnector1">
            <a:avLst/>
          </a:prstGeom>
          <a:noFill/>
          <a:ln cap="flat" cmpd="sng" w="10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Google Shape;16;p7" id="36" name="Google Shape;3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8000" y="107999"/>
            <a:ext cx="1008113" cy="644264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7"/>
          <p:cNvSpPr txBox="1"/>
          <p:nvPr>
            <p:ph type="title"/>
          </p:nvPr>
        </p:nvSpPr>
        <p:spPr>
          <a:xfrm>
            <a:off x="359999" y="900000"/>
            <a:ext cx="8424000" cy="72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359998" y="1835998"/>
            <a:ext cx="8424000" cy="2574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  <a:defRPr sz="1000"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  <a:defRPr sz="1000"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  <a:defRPr sz="1000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  <a:defRPr sz="1000"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3312000" y="179999"/>
            <a:ext cx="5472002" cy="36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3pPr>
            <a:lvl4pPr indent="-355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4pPr>
            <a:lvl5pPr indent="-355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5pPr>
            <a:lvl6pPr indent="-355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7486999" y="4899999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" showMasterSp="0">
  <p:cSld name="Couvertur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0" y="0"/>
            <a:ext cx="180000" cy="180000"/>
          </a:xfrm>
          <a:prstGeom prst="rect">
            <a:avLst/>
          </a:prstGeom>
          <a:noFill/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sz="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descr="Google Shape;46;p12" id="43" name="Google Shape;4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9999" y="179999"/>
            <a:ext cx="5148003" cy="3289973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0" y="4985237"/>
            <a:ext cx="180000" cy="136526"/>
          </a:xfrm>
          <a:prstGeom prst="rect">
            <a:avLst/>
          </a:prstGeom>
          <a:noFill/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sz="1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sz="1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sz="1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sz="1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sz="1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sz="1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sz="1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sz="1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sz="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1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sous-titre" showMasterSp="0">
  <p:cSld name="Titre et sous-titr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0" y="0"/>
            <a:ext cx="180000" cy="180000"/>
          </a:xfrm>
          <a:prstGeom prst="rect">
            <a:avLst/>
          </a:prstGeom>
          <a:noFill/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sz="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359999" y="2346044"/>
            <a:ext cx="8424002" cy="2077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1" sz="32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1" sz="3200"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1" sz="3200">
                <a:latin typeface="Arial"/>
                <a:ea typeface="Arial"/>
                <a:cs typeface="Arial"/>
                <a:sym typeface="Arial"/>
              </a:defRPr>
            </a:lvl3pPr>
            <a:lvl4pPr indent="-4318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1" sz="3200">
                <a:latin typeface="Arial"/>
                <a:ea typeface="Arial"/>
                <a:cs typeface="Arial"/>
                <a:sym typeface="Arial"/>
              </a:defRPr>
            </a:lvl4pPr>
            <a:lvl5pPr indent="-4318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1" sz="3200"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cxnSp>
        <p:nvCxnSpPr>
          <p:cNvPr id="48" name="Google Shape;48;p9"/>
          <p:cNvCxnSpPr/>
          <p:nvPr/>
        </p:nvCxnSpPr>
        <p:spPr>
          <a:xfrm>
            <a:off x="359999" y="4784399"/>
            <a:ext cx="8424003" cy="1"/>
          </a:xfrm>
          <a:prstGeom prst="straightConnector1">
            <a:avLst/>
          </a:prstGeom>
          <a:noFill/>
          <a:ln cap="flat" cmpd="sng" w="10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Google Shape;54;p13" id="49" name="Google Shape;4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9999" y="179999"/>
            <a:ext cx="2807973" cy="17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7486999" y="4899999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maire" showMasterSp="0">
  <p:cSld name="Sommair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0"/>
          <p:cNvCxnSpPr/>
          <p:nvPr/>
        </p:nvCxnSpPr>
        <p:spPr>
          <a:xfrm>
            <a:off x="359999" y="4784399"/>
            <a:ext cx="8424003" cy="1"/>
          </a:xfrm>
          <a:prstGeom prst="straightConnector1">
            <a:avLst/>
          </a:prstGeom>
          <a:noFill/>
          <a:ln cap="flat" cmpd="sng" w="10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Google Shape;16;p7" id="53" name="Google Shape;5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8000" y="107999"/>
            <a:ext cx="1008113" cy="64426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0"/>
          <p:cNvSpPr txBox="1"/>
          <p:nvPr>
            <p:ph type="title"/>
          </p:nvPr>
        </p:nvSpPr>
        <p:spPr>
          <a:xfrm>
            <a:off x="359999" y="900000"/>
            <a:ext cx="8424000" cy="72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359998" y="1891968"/>
            <a:ext cx="2520002" cy="2530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AutoNum type="arabicPeriod"/>
              <a:defRPr b="1" sz="1000"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AutoNum type="alphaLcPeriod"/>
              <a:defRPr b="1" sz="1000"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Char char="•"/>
              <a:defRPr b="1" sz="1000"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Char char="•"/>
              <a:defRPr b="1" sz="1000"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Char char="•"/>
              <a:defRPr b="1" sz="1000"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2" type="body"/>
          </p:nvPr>
        </p:nvSpPr>
        <p:spPr>
          <a:xfrm>
            <a:off x="3312000" y="1893598"/>
            <a:ext cx="2520002" cy="2530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3pPr>
            <a:lvl4pPr indent="-355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4pPr>
            <a:lvl5pPr indent="-355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5pPr>
            <a:lvl6pPr indent="-355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3" type="body"/>
          </p:nvPr>
        </p:nvSpPr>
        <p:spPr>
          <a:xfrm>
            <a:off x="6263999" y="1893598"/>
            <a:ext cx="2520002" cy="2530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3pPr>
            <a:lvl4pPr indent="-355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4pPr>
            <a:lvl5pPr indent="-355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5pPr>
            <a:lvl6pPr indent="-355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7486999" y="4899999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" showMasterSp="0">
  <p:cSld name="Chapitr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1"/>
          <p:cNvCxnSpPr/>
          <p:nvPr/>
        </p:nvCxnSpPr>
        <p:spPr>
          <a:xfrm>
            <a:off x="359999" y="4784399"/>
            <a:ext cx="8424003" cy="1"/>
          </a:xfrm>
          <a:prstGeom prst="straightConnector1">
            <a:avLst/>
          </a:prstGeom>
          <a:noFill/>
          <a:ln cap="flat" cmpd="sng" w="10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Google Shape;16;p7" id="61" name="Google Shape;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8000" y="107999"/>
            <a:ext cx="1008113" cy="64426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1"/>
          <p:cNvSpPr/>
          <p:nvPr>
            <p:ph idx="2" type="pic"/>
          </p:nvPr>
        </p:nvSpPr>
        <p:spPr>
          <a:xfrm>
            <a:off x="0" y="738000"/>
            <a:ext cx="9144000" cy="4406402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1"/>
          <p:cNvSpPr txBox="1"/>
          <p:nvPr>
            <p:ph type="title"/>
          </p:nvPr>
        </p:nvSpPr>
        <p:spPr>
          <a:xfrm>
            <a:off x="359999" y="738000"/>
            <a:ext cx="8424000" cy="4046400"/>
          </a:xfrm>
          <a:prstGeom prst="rect">
            <a:avLst/>
          </a:prstGeom>
          <a:noFill/>
          <a:ln cap="flat" cmpd="sng" w="10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7486999" y="4899999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s 3 colonnes" showMasterSp="0">
  <p:cSld name="Titre et textes 3 colonne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2"/>
          <p:cNvCxnSpPr/>
          <p:nvPr/>
        </p:nvCxnSpPr>
        <p:spPr>
          <a:xfrm>
            <a:off x="359999" y="4784399"/>
            <a:ext cx="8424003" cy="1"/>
          </a:xfrm>
          <a:prstGeom prst="straightConnector1">
            <a:avLst/>
          </a:prstGeom>
          <a:noFill/>
          <a:ln cap="flat" cmpd="sng" w="10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Google Shape;16;p7" id="67" name="Google Shape;6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8000" y="107999"/>
            <a:ext cx="1008113" cy="64426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2"/>
          <p:cNvSpPr txBox="1"/>
          <p:nvPr>
            <p:ph type="title"/>
          </p:nvPr>
        </p:nvSpPr>
        <p:spPr>
          <a:xfrm>
            <a:off x="359999" y="900000"/>
            <a:ext cx="8424000" cy="72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3312000" y="179999"/>
            <a:ext cx="5472002" cy="36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AutoNum type="arabicPeriod"/>
              <a:defRPr b="1" sz="700"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AutoNum type="alphaLcPeriod"/>
              <a:defRPr b="1" sz="700">
                <a:latin typeface="Arial"/>
                <a:ea typeface="Arial"/>
                <a:cs typeface="Arial"/>
                <a:sym typeface="Arial"/>
              </a:defRPr>
            </a:lvl2pPr>
            <a:lvl3pPr indent="-27305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Char char="•"/>
              <a:defRPr b="1" sz="700">
                <a:latin typeface="Arial"/>
                <a:ea typeface="Arial"/>
                <a:cs typeface="Arial"/>
                <a:sym typeface="Arial"/>
              </a:defRPr>
            </a:lvl3pPr>
            <a:lvl4pPr indent="-27305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Char char="•"/>
              <a:defRPr b="1" sz="700">
                <a:latin typeface="Arial"/>
                <a:ea typeface="Arial"/>
                <a:cs typeface="Arial"/>
                <a:sym typeface="Arial"/>
              </a:defRPr>
            </a:lvl4pPr>
            <a:lvl5pPr indent="-27305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Char char="•"/>
              <a:defRPr b="1" sz="700"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2" type="body"/>
          </p:nvPr>
        </p:nvSpPr>
        <p:spPr>
          <a:xfrm>
            <a:off x="359998" y="1835998"/>
            <a:ext cx="2520003" cy="2574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3pPr>
            <a:lvl4pPr indent="-355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4pPr>
            <a:lvl5pPr indent="-355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5pPr>
            <a:lvl6pPr indent="-355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3312000" y="1835998"/>
            <a:ext cx="2520002" cy="2574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3pPr>
            <a:lvl4pPr indent="-355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4pPr>
            <a:lvl5pPr indent="-355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5pPr>
            <a:lvl6pPr indent="-355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263999" y="1835998"/>
            <a:ext cx="2520002" cy="2574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3pPr>
            <a:lvl4pPr indent="-355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4pPr>
            <a:lvl5pPr indent="-355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5pPr>
            <a:lvl6pPr indent="-355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7486999" y="4899999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re et textes 3 colonnes" showMasterSp="0">
  <p:cSld name="1_Titre et textes 3 colonne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3"/>
          <p:cNvCxnSpPr/>
          <p:nvPr/>
        </p:nvCxnSpPr>
        <p:spPr>
          <a:xfrm>
            <a:off x="359999" y="4784399"/>
            <a:ext cx="8424003" cy="1"/>
          </a:xfrm>
          <a:prstGeom prst="straightConnector1">
            <a:avLst/>
          </a:prstGeom>
          <a:noFill/>
          <a:ln cap="flat" cmpd="sng" w="10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Google Shape;16;p7" id="76" name="Google Shape;76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8000" y="107999"/>
            <a:ext cx="1008113" cy="64426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3"/>
          <p:cNvSpPr txBox="1"/>
          <p:nvPr>
            <p:ph type="title"/>
          </p:nvPr>
        </p:nvSpPr>
        <p:spPr>
          <a:xfrm>
            <a:off x="359999" y="900000"/>
            <a:ext cx="8424000" cy="375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" type="body"/>
          </p:nvPr>
        </p:nvSpPr>
        <p:spPr>
          <a:xfrm>
            <a:off x="3312000" y="179999"/>
            <a:ext cx="5472002" cy="36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AutoNum type="arabicPeriod"/>
              <a:defRPr b="1" sz="700"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AutoNum type="alphaLcPeriod"/>
              <a:defRPr b="1" sz="700">
                <a:latin typeface="Arial"/>
                <a:ea typeface="Arial"/>
                <a:cs typeface="Arial"/>
                <a:sym typeface="Arial"/>
              </a:defRPr>
            </a:lvl2pPr>
            <a:lvl3pPr indent="-27305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Char char="•"/>
              <a:defRPr b="1" sz="700">
                <a:latin typeface="Arial"/>
                <a:ea typeface="Arial"/>
                <a:cs typeface="Arial"/>
                <a:sym typeface="Arial"/>
              </a:defRPr>
            </a:lvl3pPr>
            <a:lvl4pPr indent="-27305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Char char="•"/>
              <a:defRPr b="1" sz="700">
                <a:latin typeface="Arial"/>
                <a:ea typeface="Arial"/>
                <a:cs typeface="Arial"/>
                <a:sym typeface="Arial"/>
              </a:defRPr>
            </a:lvl4pPr>
            <a:lvl5pPr indent="-27305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Char char="•"/>
              <a:defRPr b="1" sz="700"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2" type="body"/>
          </p:nvPr>
        </p:nvSpPr>
        <p:spPr>
          <a:xfrm>
            <a:off x="359999" y="1419621"/>
            <a:ext cx="8424000" cy="2990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3pPr>
            <a:lvl4pPr indent="-355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4pPr>
            <a:lvl5pPr indent="-355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5pPr>
            <a:lvl6pPr indent="-355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2" type="sldNum"/>
          </p:nvPr>
        </p:nvSpPr>
        <p:spPr>
          <a:xfrm>
            <a:off x="7486999" y="4899999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sz="70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6;p1"/>
          <p:cNvCxnSpPr/>
          <p:nvPr/>
        </p:nvCxnSpPr>
        <p:spPr>
          <a:xfrm>
            <a:off x="359999" y="4784399"/>
            <a:ext cx="8424000" cy="1"/>
          </a:xfrm>
          <a:prstGeom prst="straightConnector1">
            <a:avLst/>
          </a:prstGeom>
          <a:noFill/>
          <a:ln cap="flat" cmpd="sng" w="10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Google Shape;16;p3" id="7" name="Google Shape;7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88000" y="107999"/>
            <a:ext cx="1008113" cy="64426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 txBox="1"/>
          <p:nvPr>
            <p:ph type="title"/>
          </p:nvPr>
        </p:nvSpPr>
        <p:spPr>
          <a:xfrm>
            <a:off x="359999" y="900000"/>
            <a:ext cx="8424000" cy="72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1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1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1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1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1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1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1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1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1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7486898" y="4890348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29.png"/><Relationship Id="rId5" Type="http://schemas.openxmlformats.org/officeDocument/2006/relationships/image" Target="../media/image21.png"/><Relationship Id="rId6" Type="http://schemas.openxmlformats.org/officeDocument/2006/relationships/image" Target="../media/image13.png"/><Relationship Id="rId7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22.png"/><Relationship Id="rId5" Type="http://schemas.openxmlformats.org/officeDocument/2006/relationships/image" Target="../media/image26.png"/><Relationship Id="rId6" Type="http://schemas.openxmlformats.org/officeDocument/2006/relationships/image" Target="../media/image37.png"/><Relationship Id="rId7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16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ma-cantine-demo.cleverapps.io/" TargetMode="External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38.png"/><Relationship Id="rId5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30.png"/><Relationship Id="rId5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28.png"/><Relationship Id="rId5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39.png"/><Relationship Id="rId5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Relationship Id="rId5" Type="http://schemas.openxmlformats.org/officeDocument/2006/relationships/image" Target="../media/image36.jpg"/><Relationship Id="rId6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4"/>
          <p:cNvGrpSpPr/>
          <p:nvPr/>
        </p:nvGrpSpPr>
        <p:grpSpPr>
          <a:xfrm>
            <a:off x="1291894" y="356167"/>
            <a:ext cx="6192303" cy="1046406"/>
            <a:chOff x="0" y="-1"/>
            <a:chExt cx="6192301" cy="1046405"/>
          </a:xfrm>
        </p:grpSpPr>
        <p:sp>
          <p:nvSpPr>
            <p:cNvPr id="86" name="Google Shape;86;p14"/>
            <p:cNvSpPr/>
            <p:nvPr/>
          </p:nvSpPr>
          <p:spPr>
            <a:xfrm>
              <a:off x="576299" y="401300"/>
              <a:ext cx="2319002" cy="147901"/>
            </a:xfrm>
            <a:prstGeom prst="rect">
              <a:avLst/>
            </a:prstGeom>
            <a:solidFill>
              <a:srgbClr val="008260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514923" y="843350"/>
              <a:ext cx="3720603" cy="147901"/>
            </a:xfrm>
            <a:prstGeom prst="rect">
              <a:avLst/>
            </a:prstGeom>
            <a:solidFill>
              <a:srgbClr val="008260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" name="Google Shape;88;p14"/>
            <p:cNvSpPr txBox="1"/>
            <p:nvPr/>
          </p:nvSpPr>
          <p:spPr>
            <a:xfrm>
              <a:off x="0" y="-1"/>
              <a:ext cx="6192301" cy="1046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00" lIns="91400" spcFirstLastPara="1" rIns="91400" wrap="square" tIns="914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"</a:t>
              </a:r>
              <a:r>
                <a:rPr b="1" i="0" lang="en-US" sz="2800" u="none" cap="none" strike="noStrike">
                  <a:solidFill>
                    <a:srgbClr val="232B2F"/>
                  </a:solidFill>
                  <a:latin typeface="Inter"/>
                  <a:ea typeface="Inter"/>
                  <a:cs typeface="Inter"/>
                  <a:sym typeface="Inter"/>
                </a:rPr>
                <a:t>Atteindre les objectifs de la loi EGALIM avec la plateforme ma cantine</a:t>
              </a:r>
              <a:endParaRPr b="1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0958" y="1692290"/>
            <a:ext cx="4034718" cy="2814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Police, logo, conception&#10;&#10;Description générée automatiquement" id="90" name="Google Shape;9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4197" y="58895"/>
            <a:ext cx="1659803" cy="462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/>
        </p:nvSpPr>
        <p:spPr>
          <a:xfrm>
            <a:off x="1458525" y="169850"/>
            <a:ext cx="65589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25" lIns="35725" spcFirstLastPara="1" rIns="35725" wrap="square" tIns="3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8260"/>
              </a:buClr>
              <a:buSzPts val="30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008260"/>
                </a:solidFill>
                <a:latin typeface="Arial"/>
                <a:ea typeface="Arial"/>
                <a:cs typeface="Arial"/>
                <a:sym typeface="Arial"/>
              </a:rPr>
              <a:t>Quelques astuces prises en main de l’outil livestorm…</a:t>
            </a:r>
            <a:endParaRPr b="0" i="0" sz="1800" u="none" cap="none" strike="noStrike">
              <a:solidFill>
                <a:srgbClr val="0082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9050" y="3830900"/>
            <a:ext cx="1670846" cy="4494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/>
        </p:nvSpPr>
        <p:spPr>
          <a:xfrm>
            <a:off x="639275" y="1065550"/>
            <a:ext cx="8070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🔇</a:t>
            </a:r>
            <a:r>
              <a:rPr b="1" i="0" lang="en-US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Seul(e)s les intervenant(e)s peuvent prendre la parole 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639275" y="1517667"/>
            <a:ext cx="80709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✍️</a:t>
            </a:r>
            <a:r>
              <a:rPr b="1" i="0" lang="en-US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Vous pouvez cependant intervenir pour : 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👋 vous présenter (nom, établissement, fonction, nb de couverts,...), faire vos remarques sur le </a:t>
            </a:r>
            <a:r>
              <a:rPr b="1" i="0" lang="en-US" sz="1100" u="none" cap="none" strike="noStrike">
                <a:solidFill>
                  <a:schemeClr val="dk1"/>
                </a:solidFill>
                <a:highlight>
                  <a:srgbClr val="D9EAD3"/>
                </a:highlight>
                <a:latin typeface="Montserrat"/>
                <a:ea typeface="Montserrat"/>
                <a:cs typeface="Montserrat"/>
                <a:sym typeface="Montserrat"/>
              </a:rPr>
              <a:t>chat</a:t>
            </a:r>
            <a:endParaRPr b="1" i="0" sz="1100" u="none" cap="none" strike="noStrike">
              <a:solidFill>
                <a:schemeClr val="dk1"/>
              </a:solidFill>
              <a:highlight>
                <a:srgbClr val="D9EAD3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🧠 poser vos</a:t>
            </a:r>
            <a:r>
              <a:rPr b="1" i="0" lang="en-US" sz="1100" u="none" cap="none" strike="noStrike">
                <a:solidFill>
                  <a:schemeClr val="dk1"/>
                </a:solidFill>
                <a:highlight>
                  <a:srgbClr val="D9EAD3"/>
                </a:highlight>
                <a:latin typeface="Montserrat"/>
                <a:ea typeface="Montserrat"/>
                <a:cs typeface="Montserrat"/>
                <a:sym typeface="Montserrat"/>
              </a:rPr>
              <a:t> questions</a:t>
            </a:r>
            <a:r>
              <a:rPr b="0" i="0" lang="en-U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dans l’onglet dédié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👆participer au(x) </a:t>
            </a:r>
            <a:r>
              <a:rPr b="1" i="0" lang="en-US" sz="1100" u="none" cap="none" strike="noStrike">
                <a:solidFill>
                  <a:schemeClr val="dk1"/>
                </a:solidFill>
                <a:highlight>
                  <a:srgbClr val="D9EAD3"/>
                </a:highlight>
                <a:latin typeface="Montserrat"/>
                <a:ea typeface="Montserrat"/>
                <a:cs typeface="Montserrat"/>
                <a:sym typeface="Montserrat"/>
              </a:rPr>
              <a:t>sondage(s)</a:t>
            </a:r>
            <a:r>
              <a:rPr b="0" i="0" lang="en-US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dans l’onglet dédié 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639275" y="3036583"/>
            <a:ext cx="8070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📸</a:t>
            </a:r>
            <a:r>
              <a:rPr b="1" i="0" lang="en-US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Le webinaire est enregistré et vous aurez accès au replay ainsi qu’au support et à la FAQ en fin de session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639275" y="2574300"/>
            <a:ext cx="8070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🤭</a:t>
            </a:r>
            <a:r>
              <a:rPr b="1" i="0" lang="en-US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Des temps de pause seront alloués pour répondre aux questions, remarques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Une image contenant texte, Police, logo, conception&#10;&#10;Description générée automatiquement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4197" y="58895"/>
            <a:ext cx="1659803" cy="462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/>
        </p:nvSpPr>
        <p:spPr>
          <a:xfrm>
            <a:off x="979452" y="1476489"/>
            <a:ext cx="7185096" cy="8463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900"/>
              <a:buFont typeface="Arial"/>
              <a:buNone/>
            </a:pPr>
            <a:r>
              <a:rPr b="1" i="0" lang="en-US" sz="4900" u="none" cap="none" strike="noStrike">
                <a:solidFill>
                  <a:srgbClr val="2626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Les obligations EGAlim</a:t>
            </a:r>
            <a:endParaRPr b="1" i="0" sz="49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ector 17.png"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5905" y="2325725"/>
            <a:ext cx="3004190" cy="2817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ector 18.png" id="108" name="Google Shape;10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802150"/>
            <a:ext cx="6363801" cy="3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ector 16.png" id="109" name="Google Shape;10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28586" y="-8420"/>
            <a:ext cx="1834735" cy="346444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6279820" y="3411784"/>
            <a:ext cx="6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Une image contenant texte, Police, logo, conception&#10;&#10;Description générée automatiquement" id="111" name="Google Shape;11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22097" y="134310"/>
            <a:ext cx="1659803" cy="462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3651878" y="408571"/>
            <a:ext cx="1307400" cy="1518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rgbClr val="FFE5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1431750" y="255223"/>
            <a:ext cx="65589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25" lIns="35725" spcFirstLastPara="1" rIns="35725" wrap="square" tIns="3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26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8260"/>
                </a:solidFill>
                <a:latin typeface="Arial"/>
                <a:ea typeface="Arial"/>
                <a:cs typeface="Arial"/>
                <a:sym typeface="Arial"/>
              </a:rPr>
              <a:t>📖 Le contexte juridique et politique</a:t>
            </a:r>
            <a:endParaRPr b="0" i="0" sz="2000" u="none" cap="none" strike="noStrike">
              <a:solidFill>
                <a:srgbClr val="0082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423450" y="762846"/>
            <a:ext cx="8297100" cy="397208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 loi EGAlim </a:t>
            </a:r>
            <a:r>
              <a:rPr b="0" i="0" lang="en-US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(oct.2018), la </a:t>
            </a:r>
            <a:r>
              <a:rPr b="1" i="0" lang="en-US" sz="1300" u="none" cap="none" strike="noStrike">
                <a:solidFill>
                  <a:srgbClr val="F6B9AC"/>
                </a:solidFill>
                <a:latin typeface="Montserrat"/>
                <a:ea typeface="Montserrat"/>
                <a:cs typeface="Montserrat"/>
                <a:sym typeface="Montserrat"/>
              </a:rPr>
              <a:t>loi Climat et Résilience </a:t>
            </a:r>
            <a:r>
              <a:rPr b="0" i="0" lang="en-US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(Août 2021)   :</a:t>
            </a:r>
            <a:endParaRPr b="0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Plusieurs temporalités </a:t>
            </a:r>
            <a:r>
              <a:rPr b="0" i="0" lang="en-US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mais une même série d’actions en cinq axes :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i="0" lang="en-US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50%  de produits durables et de qualité dont 20% de produits  bio </a:t>
            </a:r>
            <a:r>
              <a:rPr b="0" i="0" lang="en-US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dès le 01/01/2022. </a:t>
            </a:r>
            <a:r>
              <a:rPr b="1" i="0" lang="en-US" sz="1300" u="none" cap="none" strike="noStrike">
                <a:solidFill>
                  <a:srgbClr val="F6B9AC"/>
                </a:solidFill>
                <a:latin typeface="Montserrat"/>
                <a:ea typeface="Montserrat"/>
                <a:cs typeface="Montserrat"/>
                <a:sym typeface="Montserrat"/>
              </a:rPr>
              <a:t>Dès 2024, 60% de produits bio et durable pour les familles de produit « viandes et volailles », et « poissons et produit de la mer ». 100% pour le restaurant d’État (dont hôpitaux).</a:t>
            </a:r>
            <a:endParaRPr b="0" i="0" sz="1300" u="none" cap="none" strike="noStrike">
              <a:solidFill>
                <a:srgbClr val="F6B9A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i="0" lang="en-US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 repas végétarien hebdomadaire </a:t>
            </a:r>
            <a:r>
              <a:rPr b="0" i="0" lang="en-US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 restauration scolaire. Expérimentation puis </a:t>
            </a:r>
            <a:r>
              <a:rPr b="1" i="0" lang="en-US" sz="1300" u="none" cap="none" strike="noStrike">
                <a:solidFill>
                  <a:srgbClr val="F6B9AC"/>
                </a:solidFill>
                <a:latin typeface="Montserrat"/>
                <a:ea typeface="Montserrat"/>
                <a:cs typeface="Montserrat"/>
                <a:sym typeface="Montserrat"/>
              </a:rPr>
              <a:t>généralisation avec la loi Climat. Il est obligatoire une fois par jour dans les « restaurants d’État ».</a:t>
            </a:r>
            <a:endParaRPr b="1" i="0" sz="1300" u="none" cap="none" strike="noStrike">
              <a:solidFill>
                <a:srgbClr val="F6B9A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i="0" lang="en-US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Information</a:t>
            </a:r>
            <a:r>
              <a:rPr b="0" i="0" lang="en-US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-US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aux convives </a:t>
            </a:r>
            <a:r>
              <a:rPr b="0" i="0" lang="en-US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une fois par an par voie électronique ou par voie d’affichage. </a:t>
            </a:r>
            <a:r>
              <a:rPr b="1" i="0" lang="en-US" sz="1300" u="none" cap="none" strike="noStrike">
                <a:solidFill>
                  <a:srgbClr val="F6B9AC"/>
                </a:solidFill>
                <a:latin typeface="Montserrat"/>
                <a:ea typeface="Montserrat"/>
                <a:cs typeface="Montserrat"/>
                <a:sym typeface="Montserrat"/>
              </a:rPr>
              <a:t>Depuis août 2021 </a:t>
            </a:r>
            <a:r>
              <a:rPr b="0" i="0" lang="en-US" sz="1300" u="none" cap="none" strike="noStrike">
                <a:solidFill>
                  <a:srgbClr val="F6B9AC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b="1" i="0" lang="en-US" sz="1300" u="none" cap="none" strike="noStrike">
                <a:solidFill>
                  <a:srgbClr val="F6B9AC"/>
                </a:solidFill>
                <a:latin typeface="Montserrat"/>
                <a:ea typeface="Montserrat"/>
                <a:cs typeface="Montserrat"/>
                <a:sym typeface="Montserrat"/>
              </a:rPr>
              <a:t>information obligatoire de manière permanente en site de restauration. </a:t>
            </a:r>
            <a:endParaRPr b="1" i="0" sz="1300" u="none" cap="none" strike="noStrike">
              <a:solidFill>
                <a:srgbClr val="F6B9A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i="0" lang="en-US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Lutte contre le gaspillage alimentaire : </a:t>
            </a:r>
            <a:r>
              <a:rPr b="0" i="0" lang="en-US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l’obligation de réaliser un diagnostic du gaspillage alimentaire et de signer une convention de don (pour les restaurations importantes)</a:t>
            </a:r>
            <a:endParaRPr b="1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i="0" lang="en-US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Substitution du plastique: </a:t>
            </a:r>
            <a:r>
              <a:rPr b="0" i="0" lang="en-US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plus de bouteille d’eau, d’ustensiles à usage unique et disparition progressive des contenants de cuisine</a:t>
            </a:r>
            <a:endParaRPr b="0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Une image contenant texte, Police, logo, conception&#10;&#10;Description générée automatiquement" id="119" name="Google Shape;11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4197" y="58895"/>
            <a:ext cx="1659803" cy="462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/>
        </p:nvSpPr>
        <p:spPr>
          <a:xfrm>
            <a:off x="930202" y="1044178"/>
            <a:ext cx="7185096" cy="1600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900"/>
              <a:buFont typeface="Arial"/>
              <a:buNone/>
            </a:pPr>
            <a:r>
              <a:rPr b="1" i="0" lang="en-US" sz="4900" u="none" cap="none" strike="noStrike">
                <a:solidFill>
                  <a:srgbClr val="2626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 cantine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900"/>
              <a:buFont typeface="Arial"/>
              <a:buNone/>
            </a:pPr>
            <a:r>
              <a:rPr b="1" i="0" lang="en-US" sz="49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qu’est-ce que c’est ?</a:t>
            </a:r>
            <a:endParaRPr b="1" i="0" sz="49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ector 17.png" id="125" name="Google Shape;12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5905" y="2325725"/>
            <a:ext cx="3004190" cy="2817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ector 18.png" id="126" name="Google Shape;12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802150"/>
            <a:ext cx="6363801" cy="3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ector 16.png" id="127" name="Google Shape;12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28586" y="-8420"/>
            <a:ext cx="1834735" cy="346444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 txBox="1"/>
          <p:nvPr/>
        </p:nvSpPr>
        <p:spPr>
          <a:xfrm>
            <a:off x="6279820" y="3411784"/>
            <a:ext cx="6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/>
          <p:nvPr/>
        </p:nvSpPr>
        <p:spPr>
          <a:xfrm>
            <a:off x="1378900" y="426100"/>
            <a:ext cx="3190502" cy="91802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rgbClr val="FFE5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1330274" y="157473"/>
            <a:ext cx="7221602" cy="401649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35700" spcFirstLastPara="1" rIns="35700" wrap="square" tIns="3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26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8260"/>
                </a:solidFill>
                <a:latin typeface="Arial"/>
                <a:ea typeface="Arial"/>
                <a:cs typeface="Arial"/>
                <a:sym typeface="Arial"/>
              </a:rPr>
              <a:t>🍎 ma-cantine.agriculture.gouv.fr</a:t>
            </a:r>
            <a:endParaRPr/>
          </a:p>
        </p:txBody>
      </p:sp>
      <p:sp>
        <p:nvSpPr>
          <p:cNvPr id="135" name="Google Shape;135;p19"/>
          <p:cNvSpPr/>
          <p:nvPr/>
        </p:nvSpPr>
        <p:spPr>
          <a:xfrm>
            <a:off x="2886274" y="1230449"/>
            <a:ext cx="2014803" cy="91802"/>
          </a:xfrm>
          <a:prstGeom prst="rect">
            <a:avLst/>
          </a:prstGeom>
          <a:solidFill>
            <a:schemeClr val="accent1">
              <a:alpha val="38823"/>
            </a:scheme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321075" y="840650"/>
            <a:ext cx="7648200" cy="5378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Service public dédié aux lois EGAlim et Climat et Résilience et à la restauration collective, construit selon une méthode agile, répondant aux besoins des utilisateurs. </a:t>
            </a:r>
            <a:endParaRPr/>
          </a:p>
        </p:txBody>
      </p:sp>
      <p:pic>
        <p:nvPicPr>
          <p:cNvPr descr="Google Shape;108;g19acef96af0_1_32"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700" y="2204708"/>
            <a:ext cx="615602" cy="6156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109;g19acef96af0_1_32" id="138" name="Google Shape;13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13823" y="2144022"/>
            <a:ext cx="736952" cy="7369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110;g19acef96af0_1_32" id="139" name="Google Shape;13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0298" y="2144033"/>
            <a:ext cx="736952" cy="7369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111;g19acef96af0_1_32" id="140" name="Google Shape;14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06775" y="2168856"/>
            <a:ext cx="687302" cy="68730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 txBox="1"/>
          <p:nvPr/>
        </p:nvSpPr>
        <p:spPr>
          <a:xfrm>
            <a:off x="408938" y="2893036"/>
            <a:ext cx="1484102" cy="3860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Comprendre</a:t>
            </a:r>
            <a:endParaRPr/>
          </a:p>
        </p:txBody>
      </p:sp>
      <p:sp>
        <p:nvSpPr>
          <p:cNvPr id="142" name="Google Shape;142;p19"/>
          <p:cNvSpPr txBox="1"/>
          <p:nvPr/>
        </p:nvSpPr>
        <p:spPr>
          <a:xfrm>
            <a:off x="2339681" y="2893036"/>
            <a:ext cx="1484102" cy="3860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Accompagner</a:t>
            </a:r>
            <a:endParaRPr/>
          </a:p>
        </p:txBody>
      </p:sp>
      <p:sp>
        <p:nvSpPr>
          <p:cNvPr id="143" name="Google Shape;143;p19"/>
          <p:cNvSpPr txBox="1"/>
          <p:nvPr/>
        </p:nvSpPr>
        <p:spPr>
          <a:xfrm>
            <a:off x="4270392" y="2893036"/>
            <a:ext cx="1484102" cy="3860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Communiquer</a:t>
            </a:r>
            <a:endParaRPr/>
          </a:p>
        </p:txBody>
      </p:sp>
      <p:sp>
        <p:nvSpPr>
          <p:cNvPr id="144" name="Google Shape;144;p19"/>
          <p:cNvSpPr txBox="1"/>
          <p:nvPr/>
        </p:nvSpPr>
        <p:spPr>
          <a:xfrm>
            <a:off x="6201100" y="2893036"/>
            <a:ext cx="1484102" cy="3860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Collecter</a:t>
            </a:r>
            <a:endParaRPr/>
          </a:p>
        </p:txBody>
      </p:sp>
      <p:sp>
        <p:nvSpPr>
          <p:cNvPr id="145" name="Google Shape;145;p19"/>
          <p:cNvSpPr txBox="1"/>
          <p:nvPr/>
        </p:nvSpPr>
        <p:spPr>
          <a:xfrm>
            <a:off x="408938" y="3185236"/>
            <a:ext cx="1484102" cy="7276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Medium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et décrypter les mesures des lois EGAlim et Climat </a:t>
            </a:r>
            <a:endParaRPr/>
          </a:p>
        </p:txBody>
      </p:sp>
      <p:sp>
        <p:nvSpPr>
          <p:cNvPr id="146" name="Google Shape;146;p19"/>
          <p:cNvSpPr txBox="1"/>
          <p:nvPr/>
        </p:nvSpPr>
        <p:spPr>
          <a:xfrm>
            <a:off x="2339662" y="3185236"/>
            <a:ext cx="1484103" cy="7276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Medium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et outiller les gestionnaires et administrateurs </a:t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4213300" y="3185248"/>
            <a:ext cx="1627502" cy="7276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Medium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entre pairs et à ses convives pour valoriser ses actions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6208374" y="3185248"/>
            <a:ext cx="1627502" cy="7276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Medium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les données afin d’évaluer la politique publique 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408938" y="1474912"/>
            <a:ext cx="1484102" cy="3860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1000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E1000F"/>
                </a:solidFill>
                <a:latin typeface="Montserrat"/>
                <a:ea typeface="Montserrat"/>
                <a:cs typeface="Montserrat"/>
                <a:sym typeface="Montserrat"/>
              </a:rPr>
              <a:t>4 objectifs : </a:t>
            </a:r>
            <a:endParaRPr/>
          </a:p>
        </p:txBody>
      </p:sp>
      <p:pic>
        <p:nvPicPr>
          <p:cNvPr descr="Une image contenant texte, Police, logo, conception&#10;&#10;Description générée automatiquement" id="150" name="Google Shape;15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84197" y="58895"/>
            <a:ext cx="1659803" cy="462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/>
          <p:nvPr/>
        </p:nvSpPr>
        <p:spPr>
          <a:xfrm>
            <a:off x="1584474" y="409550"/>
            <a:ext cx="454802" cy="91802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rgbClr val="FFE5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1322049" y="155898"/>
            <a:ext cx="7221602" cy="401649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35700" spcFirstLastPara="1" rIns="35700" wrap="square" tIns="3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26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8260"/>
                </a:solidFill>
                <a:latin typeface="Arial"/>
                <a:ea typeface="Arial"/>
                <a:cs typeface="Arial"/>
                <a:sym typeface="Arial"/>
              </a:rPr>
              <a:t>🤔 Qui est concerné ? Qui peut s’inscrire sur la plateforme ? </a:t>
            </a:r>
            <a:endParaRPr/>
          </a:p>
        </p:txBody>
      </p:sp>
      <p:sp>
        <p:nvSpPr>
          <p:cNvPr id="157" name="Google Shape;157;p20"/>
          <p:cNvSpPr txBox="1"/>
          <p:nvPr/>
        </p:nvSpPr>
        <p:spPr>
          <a:xfrm>
            <a:off x="1632848" y="767924"/>
            <a:ext cx="2166302" cy="10337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👨‍💼🧑‍💼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Les </a:t>
            </a:r>
            <a:r>
              <a:rPr b="1" i="0" lang="en-US" sz="1300" u="none" cap="none" strike="noStrike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responsables légaux</a:t>
            </a:r>
            <a:r>
              <a:rPr b="0" i="0" lang="en-US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 services de restauration collective public et privé</a:t>
            </a:r>
            <a:endParaRPr/>
          </a:p>
        </p:txBody>
      </p:sp>
      <p:sp>
        <p:nvSpPr>
          <p:cNvPr id="158" name="Google Shape;158;p20"/>
          <p:cNvSpPr txBox="1"/>
          <p:nvPr/>
        </p:nvSpPr>
        <p:spPr>
          <a:xfrm>
            <a:off x="4884685" y="800430"/>
            <a:ext cx="2626502" cy="12496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👩‍🏫💼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Les structures, personnes ayant eu </a:t>
            </a:r>
            <a:r>
              <a:rPr b="1" i="0" lang="en-US" sz="1300" u="none" cap="none" strike="noStrike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délégation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pour le faire (ex : Société de Restauration Collective, traiteurs…)</a:t>
            </a:r>
            <a:endParaRPr/>
          </a:p>
        </p:txBody>
      </p:sp>
      <p:grpSp>
        <p:nvGrpSpPr>
          <p:cNvPr id="159" name="Google Shape;159;p20"/>
          <p:cNvGrpSpPr/>
          <p:nvPr/>
        </p:nvGrpSpPr>
        <p:grpSpPr>
          <a:xfrm>
            <a:off x="328825" y="3930573"/>
            <a:ext cx="8398502" cy="542705"/>
            <a:chOff x="0" y="-1"/>
            <a:chExt cx="8398501" cy="542703"/>
          </a:xfrm>
        </p:grpSpPr>
        <p:sp>
          <p:nvSpPr>
            <p:cNvPr id="160" name="Google Shape;160;p20"/>
            <p:cNvSpPr/>
            <p:nvPr/>
          </p:nvSpPr>
          <p:spPr>
            <a:xfrm>
              <a:off x="0" y="-1"/>
              <a:ext cx="8398501" cy="542703"/>
            </a:xfrm>
            <a:prstGeom prst="rect">
              <a:avLst/>
            </a:prstGeom>
            <a:solidFill>
              <a:srgbClr val="FCE5C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5"/>
                </a:buClr>
                <a:buSzPts val="1400"/>
                <a:buFont typeface="Montserrat SemiBold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1" name="Google Shape;161;p20"/>
            <p:cNvSpPr txBox="1"/>
            <p:nvPr/>
          </p:nvSpPr>
          <p:spPr>
            <a:xfrm>
              <a:off x="0" y="14423"/>
              <a:ext cx="8398501" cy="528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675" lIns="45675" spcFirstLastPara="1" rIns="45675" wrap="square" tIns="456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5"/>
                </a:buClr>
                <a:buSzPts val="1300"/>
                <a:buFont typeface="Montserrat SemiBold"/>
                <a:buNone/>
              </a:pPr>
              <a:r>
                <a:rPr b="0" i="0" lang="en-US" sz="1300" u="none" cap="none" strike="noStrike">
                  <a:solidFill>
                    <a:schemeClr val="accent5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NB : une cantine peut avoir plusieurs “gestionnaires” qui peuvent modifier différentes parties du “diagnostic” de la cantine</a:t>
              </a:r>
              <a:endParaRPr b="0" i="0" sz="1300" u="none" cap="none" strike="noStrike">
                <a:solidFill>
                  <a:schemeClr val="accent5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162" name="Google Shape;162;p20"/>
          <p:cNvSpPr txBox="1"/>
          <p:nvPr/>
        </p:nvSpPr>
        <p:spPr>
          <a:xfrm>
            <a:off x="652373" y="2210635"/>
            <a:ext cx="3875703" cy="1046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Direction ou fonction support 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5072" lvl="0" marL="18047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Directeurice d’établissement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55072" lvl="0" marL="18047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Gestionnaire administratif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55072" lvl="0" marL="18047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Comptable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729774" y="2210616"/>
            <a:ext cx="3875700" cy="1046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Restauration: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5072" lvl="0" marL="18047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Responsables Restauration</a:t>
            </a:r>
            <a:endParaRPr/>
          </a:p>
          <a:p>
            <a:pPr indent="-155072" lvl="0" marL="18047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Chef(fe)s et/ou cuisiniers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5072" lvl="0" marL="18047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Diététicien.ne 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Une image contenant texte, Police, logo, conception&#10;&#10;Description générée automatiquement" id="164" name="Google Shape;16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4197" y="58895"/>
            <a:ext cx="1659803" cy="462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/>
          <p:nvPr/>
        </p:nvSpPr>
        <p:spPr>
          <a:xfrm>
            <a:off x="1905723" y="455600"/>
            <a:ext cx="2814304" cy="91802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rgbClr val="FFE5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1322049" y="196998"/>
            <a:ext cx="7221602" cy="318367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35700" spcFirstLastPara="1" rIns="35700" wrap="square" tIns="3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26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8260"/>
                </a:solidFill>
                <a:latin typeface="Arial"/>
                <a:ea typeface="Arial"/>
                <a:cs typeface="Arial"/>
                <a:sym typeface="Arial"/>
              </a:rPr>
              <a:t>👇Un accompagnement personnalisé en fonction des besoins</a:t>
            </a:r>
            <a:endParaRPr b="0" i="0" sz="1600" u="none" cap="none" strike="noStrike">
              <a:solidFill>
                <a:srgbClr val="0082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110459" y="919612"/>
            <a:ext cx="3184501" cy="4312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 vous n’avez pas d’outils :</a:t>
            </a:r>
            <a:endParaRPr b="1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Google Shape;141;g19acef96af0_1_41" id="172" name="Google Shape;17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3694" y="887575"/>
            <a:ext cx="3571836" cy="208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142;g19acef96af0_1_41" id="173" name="Google Shape;17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725" y="1945467"/>
            <a:ext cx="2958365" cy="17002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143;g19acef96af0_1_41" id="174" name="Google Shape;17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9774" y="1776116"/>
            <a:ext cx="2604226" cy="3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1"/>
          <p:cNvSpPr txBox="1"/>
          <p:nvPr/>
        </p:nvSpPr>
        <p:spPr>
          <a:xfrm>
            <a:off x="435823" y="3955274"/>
            <a:ext cx="3445504" cy="5130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None/>
            </a:pPr>
            <a:r>
              <a:rPr b="0" i="0" lang="en-US" sz="1100" u="sng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Assurez le suivi de vos achats (en ligne ou par un tableur excel)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3881325" y="3063325"/>
            <a:ext cx="2379001" cy="6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None/>
            </a:pPr>
            <a:r>
              <a:rPr b="0" i="0" lang="en-US" sz="1100" u="sng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Communiquez avec vos convives (affiche à générer et page de /publication)</a:t>
            </a:r>
            <a:endParaRPr/>
          </a:p>
        </p:txBody>
      </p:sp>
      <p:pic>
        <p:nvPicPr>
          <p:cNvPr descr="Google Shape;146;g19acef96af0_1_41" id="177" name="Google Shape;17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9774" y="2293568"/>
            <a:ext cx="2604226" cy="23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Police, logo, conception&#10;&#10;Description générée automatiquement" id="178" name="Google Shape;17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84197" y="58895"/>
            <a:ext cx="1659803" cy="462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/>
          <p:nvPr/>
        </p:nvSpPr>
        <p:spPr>
          <a:xfrm>
            <a:off x="1905723" y="455600"/>
            <a:ext cx="2814304" cy="91802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rgbClr val="FFE5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1322049" y="196998"/>
            <a:ext cx="7221602" cy="318367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35700" spcFirstLastPara="1" rIns="35700" wrap="square" tIns="3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26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8260"/>
                </a:solidFill>
                <a:latin typeface="Arial"/>
                <a:ea typeface="Arial"/>
                <a:cs typeface="Arial"/>
                <a:sym typeface="Arial"/>
              </a:rPr>
              <a:t>👇Un accompagnement personnalisé en fonction des besoins</a:t>
            </a:r>
            <a:endParaRPr b="0" i="0" sz="1600" u="none" cap="none" strike="noStrike">
              <a:solidFill>
                <a:srgbClr val="0082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277414" y="914609"/>
            <a:ext cx="3184501" cy="4312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Pour établissements outillés :</a:t>
            </a:r>
            <a:endParaRPr b="1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Google Shape;155;g19acef96af0_1_101" id="186" name="Google Shape;18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848" y="3058971"/>
            <a:ext cx="3819328" cy="128725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2"/>
          <p:cNvSpPr txBox="1"/>
          <p:nvPr/>
        </p:nvSpPr>
        <p:spPr>
          <a:xfrm>
            <a:off x="316848" y="2167800"/>
            <a:ext cx="3445504" cy="6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None/>
            </a:pPr>
            <a:r>
              <a:rPr b="0" i="0" lang="en-US" sz="1100" u="sng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Suivez l’évolution de vos établissements (via l’import massif ou en interfaçant le logiciel de gestion GPAO) du gestionnaire</a:t>
            </a:r>
            <a:endParaRPr b="0" i="0" sz="1100" u="sng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22"/>
          <p:cNvSpPr txBox="1"/>
          <p:nvPr/>
        </p:nvSpPr>
        <p:spPr>
          <a:xfrm>
            <a:off x="4726561" y="908374"/>
            <a:ext cx="3445503" cy="5231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None/>
            </a:pPr>
            <a:r>
              <a:rPr b="0" i="0" lang="en-US" sz="1100" u="sng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Consultez les données en temps réel sur le périmètre de votre territoire.</a:t>
            </a:r>
            <a:endParaRPr b="0" i="0" sz="1100" u="sng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Google Shape;158;g19acef96af0_1_101" id="189" name="Google Shape;18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0050" y="1465150"/>
            <a:ext cx="3885703" cy="26524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Police, logo, conception&#10;&#10;Description générée automatiquement" id="190" name="Google Shape;19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4197" y="58895"/>
            <a:ext cx="1659803" cy="462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/>
          <p:nvPr/>
        </p:nvSpPr>
        <p:spPr>
          <a:xfrm>
            <a:off x="277414" y="908374"/>
            <a:ext cx="3184501" cy="411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Et pour toutes et tous… </a:t>
            </a:r>
            <a:endParaRPr/>
          </a:p>
        </p:txBody>
      </p:sp>
      <p:sp>
        <p:nvSpPr>
          <p:cNvPr id="196" name="Google Shape;196;p23"/>
          <p:cNvSpPr txBox="1"/>
          <p:nvPr/>
        </p:nvSpPr>
        <p:spPr>
          <a:xfrm>
            <a:off x="511874" y="1475937"/>
            <a:ext cx="7657203" cy="24006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 site de démo où vous pouvez tester la plateforme et les fonctionnalités : </a:t>
            </a:r>
            <a:r>
              <a:rPr b="0" i="0" lang="en-US" sz="12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https://ma-cantine-demo.cleverapps.io</a:t>
            </a:r>
            <a:endParaRPr b="1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●"/>
            </a:pPr>
            <a:r>
              <a:rPr b="1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 webinaires réguliers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que vous pouvez partager à vos gestionnaires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●"/>
            </a:pPr>
            <a:r>
              <a:rPr b="1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Une documentation mise à jour régulièrement </a:t>
            </a:r>
            <a:endParaRPr/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●"/>
            </a:pPr>
            <a:r>
              <a:rPr b="1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Une info lettre et des articles de blog</a:t>
            </a:r>
            <a:endParaRPr/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●"/>
            </a:pPr>
            <a:r>
              <a:rPr b="1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 catalogue des acteurs de la restauration pour trouver le partenaire adéquat dans le secteur de la restauration collective (en cours)</a:t>
            </a:r>
            <a:endParaRPr/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●"/>
            </a:pPr>
            <a:r>
              <a:rPr b="1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 contact avec la plateforme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Une image contenant texte, Police, logo, conception&#10;&#10;Description générée automatiquement" id="197" name="Google Shape;19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4197" y="58895"/>
            <a:ext cx="1659803" cy="462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/>
        </p:nvSpPr>
        <p:spPr>
          <a:xfrm>
            <a:off x="930202" y="1044178"/>
            <a:ext cx="7185096" cy="1600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900"/>
              <a:buFont typeface="Arial"/>
              <a:buNone/>
            </a:pPr>
            <a:r>
              <a:rPr b="1" i="0" lang="en-US" sz="49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Les fonctionnalités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900"/>
              <a:buFont typeface="Arial"/>
              <a:buNone/>
            </a:pPr>
            <a:r>
              <a:rPr b="1" i="0" lang="en-US" sz="4900" u="none" cap="none" strike="noStrike">
                <a:solidFill>
                  <a:srgbClr val="2626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 cantine</a:t>
            </a:r>
            <a:endParaRPr b="1" i="0" sz="49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ector 17.png" id="203" name="Google Shape;20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5905" y="2325725"/>
            <a:ext cx="3004190" cy="2817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ector 18.png" id="204" name="Google Shape;20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802150"/>
            <a:ext cx="6363801" cy="3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ector 16.png" id="205" name="Google Shape;20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28586" y="-8420"/>
            <a:ext cx="1834735" cy="346444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4"/>
          <p:cNvSpPr txBox="1"/>
          <p:nvPr/>
        </p:nvSpPr>
        <p:spPr>
          <a:xfrm>
            <a:off x="6279820" y="3411784"/>
            <a:ext cx="6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/>
          <p:nvPr/>
        </p:nvSpPr>
        <p:spPr>
          <a:xfrm>
            <a:off x="1458525" y="169850"/>
            <a:ext cx="70194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25" lIns="35725" spcFirstLastPara="1" rIns="35725" wrap="square" tIns="3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8260"/>
              </a:buClr>
              <a:buSzPts val="30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008260"/>
                </a:solidFill>
                <a:latin typeface="Arial"/>
                <a:ea typeface="Arial"/>
                <a:cs typeface="Arial"/>
                <a:sym typeface="Arial"/>
              </a:rPr>
              <a:t>Réaliser son diagnostic alimentaire</a:t>
            </a:r>
            <a:endParaRPr b="0" i="0" sz="1800" u="none" cap="none" strike="noStrike">
              <a:solidFill>
                <a:srgbClr val="0082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772" y="894311"/>
            <a:ext cx="4730447" cy="31100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&#10;&#10;Description générée automatiquement" id="213" name="Google Shape;21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7730" y="1253068"/>
            <a:ext cx="5975498" cy="2637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Police, logo, conception&#10;&#10;Description générée automatiquement" id="214" name="Google Shape;21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4197" y="58895"/>
            <a:ext cx="1659803" cy="462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 txBox="1"/>
          <p:nvPr/>
        </p:nvSpPr>
        <p:spPr>
          <a:xfrm>
            <a:off x="1458525" y="169850"/>
            <a:ext cx="70194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25" lIns="35725" spcFirstLastPara="1" rIns="35725" wrap="square" tIns="3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8260"/>
              </a:buClr>
              <a:buSzPts val="30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008260"/>
                </a:solidFill>
                <a:latin typeface="Arial"/>
                <a:ea typeface="Arial"/>
                <a:cs typeface="Arial"/>
                <a:sym typeface="Arial"/>
              </a:rPr>
              <a:t>Réaliser son diagnostic alimentaire</a:t>
            </a:r>
            <a:endParaRPr b="0" i="0" sz="1800" u="none" cap="none" strike="noStrike">
              <a:solidFill>
                <a:srgbClr val="0082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e image contenant texte&#10;&#10;Description générée automatiquement" id="220" name="Google Shape;22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387" y="886228"/>
            <a:ext cx="4652846" cy="35023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&#10;&#10;Description générée automatiquement" id="221" name="Google Shape;22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8225" y="1107205"/>
            <a:ext cx="4141135" cy="32813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Police, logo, conception&#10;&#10;Description générée automatiquement" id="222" name="Google Shape;22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4197" y="58895"/>
            <a:ext cx="1659803" cy="462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"/>
          <p:cNvSpPr txBox="1"/>
          <p:nvPr/>
        </p:nvSpPr>
        <p:spPr>
          <a:xfrm>
            <a:off x="1538550" y="169850"/>
            <a:ext cx="70986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25" lIns="35725" spcFirstLastPara="1" rIns="35725" wrap="square" tIns="3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8260"/>
              </a:buClr>
              <a:buSzPts val="30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008260"/>
                </a:solidFill>
                <a:latin typeface="Arial"/>
                <a:ea typeface="Arial"/>
                <a:cs typeface="Arial"/>
                <a:sym typeface="Arial"/>
              </a:rPr>
              <a:t>Suivre ses achats sur ma cantine</a:t>
            </a:r>
            <a:endParaRPr b="0" i="0" sz="1800" u="none" cap="none" strike="noStrike">
              <a:solidFill>
                <a:srgbClr val="0082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7"/>
          <p:cNvSpPr txBox="1"/>
          <p:nvPr/>
        </p:nvSpPr>
        <p:spPr>
          <a:xfrm>
            <a:off x="423450" y="950300"/>
            <a:ext cx="8297100" cy="12064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Vous souhaitez découvrir votre part de bio et durable ? Utilisez notre outil en ligne de suivi de vos achats !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i="0" lang="en-US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Connectez-vous sur votre compte et cliquez sur « suivre mes achats » :  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9" name="Google Shape;22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793" y="2156754"/>
            <a:ext cx="7352414" cy="25796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Police, logo, conception&#10;&#10;Description générée automatiquement" id="230" name="Google Shape;23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4197" y="68322"/>
            <a:ext cx="1659803" cy="462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"/>
          <p:cNvSpPr txBox="1"/>
          <p:nvPr/>
        </p:nvSpPr>
        <p:spPr>
          <a:xfrm>
            <a:off x="1538550" y="169850"/>
            <a:ext cx="70986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25" lIns="35725" spcFirstLastPara="1" rIns="35725" wrap="square" tIns="3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8260"/>
              </a:buClr>
              <a:buSzPts val="30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008260"/>
                </a:solidFill>
                <a:latin typeface="Arial"/>
                <a:ea typeface="Arial"/>
                <a:cs typeface="Arial"/>
                <a:sym typeface="Arial"/>
              </a:rPr>
              <a:t>Suivre ses achats sur ma cantine</a:t>
            </a:r>
            <a:endParaRPr b="0" i="0" sz="1800" u="none" cap="none" strike="noStrike">
              <a:solidFill>
                <a:srgbClr val="0082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8"/>
          <p:cNvSpPr txBox="1"/>
          <p:nvPr/>
        </p:nvSpPr>
        <p:spPr>
          <a:xfrm>
            <a:off x="423450" y="950300"/>
            <a:ext cx="8297100" cy="12064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Vous souhaitez découvrir votre part de bio et durable ? Utilisez notre outil en ligne de suivi de vos achats !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i="0" lang="en-US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Saisir vos achats à partir de vos factures :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7" name="Google Shape;23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328" y="2156754"/>
            <a:ext cx="4269626" cy="2392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487804"/>
            <a:ext cx="4269626" cy="1999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Police, logo, conception&#10;&#10;Description générée automatiquement" id="239" name="Google Shape;23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4197" y="58895"/>
            <a:ext cx="1659803" cy="462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/>
          <p:nvPr/>
        </p:nvSpPr>
        <p:spPr>
          <a:xfrm>
            <a:off x="1458525" y="97899"/>
            <a:ext cx="70194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25" lIns="35725" spcFirstLastPara="1" rIns="35725" wrap="square" tIns="3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8260"/>
              </a:buClr>
              <a:buSzPts val="30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008260"/>
                </a:solidFill>
                <a:latin typeface="Arial"/>
                <a:ea typeface="Arial"/>
                <a:cs typeface="Arial"/>
                <a:sym typeface="Arial"/>
              </a:rPr>
              <a:t>Communiquer avec ses convives : nos cantines</a:t>
            </a:r>
            <a:endParaRPr b="0" i="0" sz="1800" u="none" cap="none" strike="noStrike">
              <a:solidFill>
                <a:srgbClr val="0082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e image contenant texte&#10;&#10;Description générée automatiquement" id="245" name="Google Shape;24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5181" y="2125008"/>
            <a:ext cx="4297312" cy="2275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507" y="2156754"/>
            <a:ext cx="3568407" cy="2243648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9"/>
          <p:cNvSpPr txBox="1"/>
          <p:nvPr/>
        </p:nvSpPr>
        <p:spPr>
          <a:xfrm>
            <a:off x="423450" y="950300"/>
            <a:ext cx="8297100" cy="12064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Maintenant que vous connaissez votre score EGAlim, pourquoi ne pas le partager avec vos convives et nos utilisateur.ice.s ? Pour cela, rien de plus simple :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i="0" lang="en-US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Acceptez la publication dans votre espace ma cantine.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Une image contenant texte, Police, logo, conception&#10;&#10;Description générée automatiquement" id="248" name="Google Shape;24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4197" y="58895"/>
            <a:ext cx="1659803" cy="462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 txBox="1"/>
          <p:nvPr/>
        </p:nvSpPr>
        <p:spPr>
          <a:xfrm>
            <a:off x="1458525" y="97899"/>
            <a:ext cx="70194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25" lIns="35725" spcFirstLastPara="1" rIns="35725" wrap="square" tIns="3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8260"/>
              </a:buClr>
              <a:buSzPts val="30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008260"/>
                </a:solidFill>
                <a:latin typeface="Arial"/>
                <a:ea typeface="Arial"/>
                <a:cs typeface="Arial"/>
                <a:sym typeface="Arial"/>
              </a:rPr>
              <a:t>Communiquer avec ses convives : générez votre affiche</a:t>
            </a:r>
            <a:endParaRPr b="0" i="0" sz="1800" u="none" cap="none" strike="noStrike">
              <a:solidFill>
                <a:srgbClr val="0082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0"/>
          <p:cNvSpPr txBox="1"/>
          <p:nvPr/>
        </p:nvSpPr>
        <p:spPr>
          <a:xfrm>
            <a:off x="423450" y="950300"/>
            <a:ext cx="8297100" cy="14003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 loi climat et résilience dispose l’obligation d’une communication permanente auprès des convives, en restauration. Utilisez notre outil de génération d’affiche pour vous faciliter la tâche !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i="0" lang="en-US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Une fois la diagnostic de l’année N-1 rempli :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5" name="Google Shape;25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074" y="2350653"/>
            <a:ext cx="3695581" cy="2361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0616" y="1553586"/>
            <a:ext cx="2171514" cy="3158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Police, logo, conception&#10;&#10;Description générée automatiquement" id="257" name="Google Shape;25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4197" y="58895"/>
            <a:ext cx="1659803" cy="462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/>
          <p:cNvSpPr txBox="1"/>
          <p:nvPr/>
        </p:nvSpPr>
        <p:spPr>
          <a:xfrm>
            <a:off x="1458525" y="97899"/>
            <a:ext cx="70194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25" lIns="35725" spcFirstLastPara="1" rIns="35725" wrap="square" tIns="3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8260"/>
              </a:buClr>
              <a:buSzPts val="30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008260"/>
                </a:solidFill>
                <a:latin typeface="Arial"/>
                <a:ea typeface="Arial"/>
                <a:cs typeface="Arial"/>
                <a:sym typeface="Arial"/>
              </a:rPr>
              <a:t>Des contenus numériques à disposition des usagers:</a:t>
            </a:r>
            <a:endParaRPr b="0" i="0" sz="1800" u="none" cap="none" strike="noStrike">
              <a:solidFill>
                <a:srgbClr val="0082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1"/>
          <p:cNvSpPr txBox="1"/>
          <p:nvPr/>
        </p:nvSpPr>
        <p:spPr>
          <a:xfrm>
            <a:off x="423450" y="950300"/>
            <a:ext cx="8297100" cy="7899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Nous proposons divers contenus pour favoriser l’émulation et change des pratiques professionnelles : en donnant la parole aux acteurs et actrices du secteur, via un espace blog et des podcasts ; ou grâce à la documentation du CNRC. On y trouve les outils de l’ADEME. 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4" name="Google Shape;26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84" y="2142702"/>
            <a:ext cx="3347678" cy="2504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pture d’écran 2022-06-01 à 17.35.14.png" id="265" name="Google Shape;26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6936" y="2142702"/>
            <a:ext cx="1879064" cy="24563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3" id="266" name="Google Shape;266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9365" y="2036985"/>
            <a:ext cx="1902661" cy="2610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Police, logo, conception&#10;&#10;Description générée automatiquement" id="267" name="Google Shape;267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84197" y="58895"/>
            <a:ext cx="1659803" cy="462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182;g19acef96af0_1_203" id="272" name="Google Shape;272;p32"/>
          <p:cNvPicPr preferRelativeResize="0"/>
          <p:nvPr/>
        </p:nvPicPr>
        <p:blipFill rotWithShape="1">
          <a:blip r:embed="rId3">
            <a:alphaModFix amt="52000"/>
          </a:blip>
          <a:srcRect b="0" l="0" r="0" t="0"/>
          <a:stretch/>
        </p:blipFill>
        <p:spPr>
          <a:xfrm>
            <a:off x="522037" y="824237"/>
            <a:ext cx="8318007" cy="3984432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2"/>
          <p:cNvSpPr txBox="1"/>
          <p:nvPr/>
        </p:nvSpPr>
        <p:spPr>
          <a:xfrm>
            <a:off x="1577099" y="-1"/>
            <a:ext cx="7098601" cy="731849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35700" spcFirstLastPara="1" rIns="35700" wrap="square" tIns="3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260"/>
              </a:buClr>
              <a:buSzPts val="4300"/>
              <a:buFont typeface="Arial"/>
              <a:buNone/>
            </a:pPr>
            <a:r>
              <a:rPr b="0" i="0" lang="en-US" sz="4300" u="none" cap="none" strike="noStrike">
                <a:solidFill>
                  <a:srgbClr val="008260"/>
                </a:solidFill>
                <a:latin typeface="Arial"/>
                <a:ea typeface="Arial"/>
                <a:cs typeface="Arial"/>
                <a:sym typeface="Arial"/>
              </a:rPr>
              <a:t>Questions</a:t>
            </a:r>
            <a:endParaRPr/>
          </a:p>
        </p:txBody>
      </p:sp>
      <p:sp>
        <p:nvSpPr>
          <p:cNvPr id="274" name="Google Shape;274;p32"/>
          <p:cNvSpPr txBox="1"/>
          <p:nvPr/>
        </p:nvSpPr>
        <p:spPr>
          <a:xfrm>
            <a:off x="1577099" y="546301"/>
            <a:ext cx="4923188" cy="464132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Montserrat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support-egalim@beta.gouv.fr </a:t>
            </a:r>
            <a:endParaRPr/>
          </a:p>
        </p:txBody>
      </p:sp>
      <p:pic>
        <p:nvPicPr>
          <p:cNvPr descr="Une image contenant texte, Police, logo, conception&#10;&#10;Description générée automatiquement" id="275" name="Google Shape;27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4197" y="58895"/>
            <a:ext cx="1659803" cy="462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NISTÈRIEL">
  <a:themeElements>
    <a:clrScheme name="MINISTÈRIEL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STÈRIEL">
  <a:themeElements>
    <a:clrScheme name="MINISTÈRIEL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